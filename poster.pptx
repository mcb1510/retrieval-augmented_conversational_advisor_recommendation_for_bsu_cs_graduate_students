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32918400" cx="43891200"/>
  <p:notesSz cx="6858000" cy="9144000"/>
  <p:embeddedFontLst>
    <p:embeddedFont>
      <p:font typeface="Montserrat SemiBold"/>
      <p:regular r:id="rId6"/>
      <p:bold r:id="rId7"/>
      <p:italic r:id="rId8"/>
      <p:boldItalic r:id="rId9"/>
    </p:embeddedFont>
    <p:embeddedFont>
      <p:font typeface="Montserrat"/>
      <p:bold r:id="rId10"/>
      <p:boldItalic r:id="rId11"/>
    </p:embeddedFont>
    <p:embeddedFont>
      <p:font typeface="Montserrat Black"/>
      <p:bold r:id="rId12"/>
      <p:boldItalic r:id="rId13"/>
    </p:embeddedFont>
    <p:embeddedFont>
      <p:font typeface="Montserrat Medium"/>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GHObqwICp3gAJ4g3hOT+b2T/k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bold.fntdata"/><Relationship Id="rId13" Type="http://schemas.openxmlformats.org/officeDocument/2006/relationships/font" Target="fonts/MontserratBlack-boldItalic.fntdata"/><Relationship Id="rId12" Type="http://schemas.openxmlformats.org/officeDocument/2006/relationships/font" Target="fonts/MontserratBlack-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ontserratSemiBold-boldItalic.fntdata"/><Relationship Id="rId15" Type="http://schemas.openxmlformats.org/officeDocument/2006/relationships/font" Target="fonts/MontserratMedium-bold.fntdata"/><Relationship Id="rId14" Type="http://schemas.openxmlformats.org/officeDocument/2006/relationships/font" Target="fonts/MontserratMedium-regular.fntdata"/><Relationship Id="rId17" Type="http://schemas.openxmlformats.org/officeDocument/2006/relationships/font" Target="fonts/MontserratMedium-boldItalic.fntdata"/><Relationship Id="rId16" Type="http://schemas.openxmlformats.org/officeDocument/2006/relationships/font" Target="fonts/MontserratMedium-italic.fntdata"/><Relationship Id="rId5" Type="http://schemas.openxmlformats.org/officeDocument/2006/relationships/slide" Target="slides/slide1.xml"/><Relationship Id="rId6" Type="http://schemas.openxmlformats.org/officeDocument/2006/relationships/font" Target="fonts/MontserratSemiBold-regular.fntdata"/><Relationship Id="rId18" Type="http://customschemas.google.com/relationships/presentationmetadata" Target="metadata"/><Relationship Id="rId7" Type="http://schemas.openxmlformats.org/officeDocument/2006/relationships/font" Target="fonts/MontserratSemiBold-bold.fntdata"/><Relationship Id="rId8" Type="http://schemas.openxmlformats.org/officeDocument/2006/relationships/font" Target="fonts/Montserrat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fe4b6cf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afe4b6cf1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descr="decorative" id="12" name="Google Shape;12;p3"/>
          <p:cNvSpPr/>
          <p:nvPr/>
        </p:nvSpPr>
        <p:spPr>
          <a:xfrm>
            <a:off x="0" y="740722"/>
            <a:ext cx="30175200" cy="3291840"/>
          </a:xfrm>
          <a:prstGeom prst="rect">
            <a:avLst/>
          </a:prstGeom>
          <a:solidFill>
            <a:srgbClr val="0033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Calibri"/>
              <a:ea typeface="Calibri"/>
              <a:cs typeface="Calibri"/>
              <a:sym typeface="Calibri"/>
            </a:endParaRPr>
          </a:p>
        </p:txBody>
      </p:sp>
      <p:sp>
        <p:nvSpPr>
          <p:cNvPr descr="background" id="13" name="Google Shape;13;p3"/>
          <p:cNvSpPr/>
          <p:nvPr/>
        </p:nvSpPr>
        <p:spPr>
          <a:xfrm>
            <a:off x="0" y="3418840"/>
            <a:ext cx="26883360" cy="1828800"/>
          </a:xfrm>
          <a:prstGeom prst="rect">
            <a:avLst/>
          </a:prstGeom>
          <a:solidFill>
            <a:srgbClr val="FA4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Calibri"/>
              <a:ea typeface="Calibri"/>
              <a:cs typeface="Calibri"/>
              <a:sym typeface="Calibri"/>
            </a:endParaRPr>
          </a:p>
        </p:txBody>
      </p:sp>
      <p:sp>
        <p:nvSpPr>
          <p:cNvPr descr="decorative" id="14" name="Google Shape;14;p3"/>
          <p:cNvSpPr/>
          <p:nvPr/>
        </p:nvSpPr>
        <p:spPr>
          <a:xfrm>
            <a:off x="11430000" y="6162040"/>
            <a:ext cx="32461200" cy="1828800"/>
          </a:xfrm>
          <a:prstGeom prst="rect">
            <a:avLst/>
          </a:prstGeom>
          <a:solidFill>
            <a:srgbClr val="FA4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Calibri"/>
              <a:ea typeface="Calibri"/>
              <a:cs typeface="Calibri"/>
              <a:sym typeface="Calibri"/>
            </a:endParaRPr>
          </a:p>
        </p:txBody>
      </p:sp>
      <p:sp>
        <p:nvSpPr>
          <p:cNvPr descr="decorative" id="15" name="Google Shape;15;p3"/>
          <p:cNvSpPr/>
          <p:nvPr/>
        </p:nvSpPr>
        <p:spPr>
          <a:xfrm>
            <a:off x="0" y="31154682"/>
            <a:ext cx="43891200" cy="1828800"/>
          </a:xfrm>
          <a:prstGeom prst="rect">
            <a:avLst/>
          </a:prstGeom>
          <a:solidFill>
            <a:srgbClr val="0033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58" u="none" cap="none" strike="noStrike">
              <a:solidFill>
                <a:schemeClr val="lt1"/>
              </a:solidFill>
              <a:latin typeface="Calibri"/>
              <a:ea typeface="Calibri"/>
              <a:cs typeface="Calibri"/>
              <a:sym typeface="Calibri"/>
            </a:endParaRPr>
          </a:p>
        </p:txBody>
      </p:sp>
      <p:pic>
        <p:nvPicPr>
          <p:cNvPr descr="A close up of a sign&#10;&#10;Description automatically generated" id="16" name="Google Shape;16;p3"/>
          <p:cNvPicPr preferRelativeResize="0"/>
          <p:nvPr/>
        </p:nvPicPr>
        <p:blipFill rotWithShape="1">
          <a:blip r:embed="rId2">
            <a:alphaModFix/>
          </a:blip>
          <a:srcRect b="0" l="0" r="0" t="0"/>
          <a:stretch/>
        </p:blipFill>
        <p:spPr>
          <a:xfrm>
            <a:off x="33277701" y="1085159"/>
            <a:ext cx="7791365" cy="30693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20" name="Google Shape;20;p4"/>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2994662" y="8206749"/>
            <a:ext cx="37856160" cy="136931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2994662" y="22029429"/>
            <a:ext cx="37856160" cy="7200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sz="11520">
                <a:solidFill>
                  <a:schemeClr val="dk1"/>
                </a:solidFill>
              </a:defRPr>
            </a:lvl1pPr>
            <a:lvl2pPr indent="-228600" lvl="1" marL="914400" algn="l">
              <a:lnSpc>
                <a:spcPct val="90000"/>
              </a:lnSpc>
              <a:spcBef>
                <a:spcPts val="2400"/>
              </a:spcBef>
              <a:spcAft>
                <a:spcPts val="0"/>
              </a:spcAft>
              <a:buClr>
                <a:srgbClr val="888888"/>
              </a:buClr>
              <a:buSzPts val="9600"/>
              <a:buNone/>
              <a:defRPr sz="9600">
                <a:solidFill>
                  <a:srgbClr val="888888"/>
                </a:solidFill>
              </a:defRPr>
            </a:lvl2pPr>
            <a:lvl3pPr indent="-228600" lvl="2" marL="1371600" algn="l">
              <a:lnSpc>
                <a:spcPct val="90000"/>
              </a:lnSpc>
              <a:spcBef>
                <a:spcPts val="2400"/>
              </a:spcBef>
              <a:spcAft>
                <a:spcPts val="0"/>
              </a:spcAft>
              <a:buClr>
                <a:srgbClr val="888888"/>
              </a:buClr>
              <a:buSzPts val="8640"/>
              <a:buNone/>
              <a:defRPr sz="8640">
                <a:solidFill>
                  <a:srgbClr val="888888"/>
                </a:solidFill>
              </a:defRPr>
            </a:lvl3pPr>
            <a:lvl4pPr indent="-228600" lvl="3" marL="1828800" algn="l">
              <a:lnSpc>
                <a:spcPct val="90000"/>
              </a:lnSpc>
              <a:spcBef>
                <a:spcPts val="2400"/>
              </a:spcBef>
              <a:spcAft>
                <a:spcPts val="0"/>
              </a:spcAft>
              <a:buClr>
                <a:srgbClr val="888888"/>
              </a:buClr>
              <a:buSzPts val="7680"/>
              <a:buNone/>
              <a:defRPr sz="7680">
                <a:solidFill>
                  <a:srgbClr val="888888"/>
                </a:solidFill>
              </a:defRPr>
            </a:lvl4pPr>
            <a:lvl5pPr indent="-228600" lvl="4" marL="2286000" algn="l">
              <a:lnSpc>
                <a:spcPct val="90000"/>
              </a:lnSpc>
              <a:spcBef>
                <a:spcPts val="2400"/>
              </a:spcBef>
              <a:spcAft>
                <a:spcPts val="0"/>
              </a:spcAft>
              <a:buClr>
                <a:srgbClr val="888888"/>
              </a:buClr>
              <a:buSzPts val="7680"/>
              <a:buNone/>
              <a:defRPr sz="7680">
                <a:solidFill>
                  <a:srgbClr val="888888"/>
                </a:solidFill>
              </a:defRPr>
            </a:lvl5pPr>
            <a:lvl6pPr indent="-228600" lvl="5" marL="2743200" algn="l">
              <a:lnSpc>
                <a:spcPct val="90000"/>
              </a:lnSpc>
              <a:spcBef>
                <a:spcPts val="2400"/>
              </a:spcBef>
              <a:spcAft>
                <a:spcPts val="0"/>
              </a:spcAft>
              <a:buClr>
                <a:srgbClr val="888888"/>
              </a:buClr>
              <a:buSzPts val="7680"/>
              <a:buNone/>
              <a:defRPr sz="7680">
                <a:solidFill>
                  <a:srgbClr val="888888"/>
                </a:solidFill>
              </a:defRPr>
            </a:lvl6pPr>
            <a:lvl7pPr indent="-228600" lvl="6" marL="3200400" algn="l">
              <a:lnSpc>
                <a:spcPct val="90000"/>
              </a:lnSpc>
              <a:spcBef>
                <a:spcPts val="2400"/>
              </a:spcBef>
              <a:spcAft>
                <a:spcPts val="0"/>
              </a:spcAft>
              <a:buClr>
                <a:srgbClr val="888888"/>
              </a:buClr>
              <a:buSzPts val="7680"/>
              <a:buNone/>
              <a:defRPr sz="7680">
                <a:solidFill>
                  <a:srgbClr val="888888"/>
                </a:solidFill>
              </a:defRPr>
            </a:lvl7pPr>
            <a:lvl8pPr indent="-228600" lvl="7" marL="3657600" algn="l">
              <a:lnSpc>
                <a:spcPct val="90000"/>
              </a:lnSpc>
              <a:spcBef>
                <a:spcPts val="2400"/>
              </a:spcBef>
              <a:spcAft>
                <a:spcPts val="0"/>
              </a:spcAft>
              <a:buClr>
                <a:srgbClr val="888888"/>
              </a:buClr>
              <a:buSzPts val="7680"/>
              <a:buNone/>
              <a:defRPr sz="7680">
                <a:solidFill>
                  <a:srgbClr val="888888"/>
                </a:solidFill>
              </a:defRPr>
            </a:lvl8pPr>
            <a:lvl9pPr indent="-228600" lvl="8" marL="4114800" algn="l">
              <a:lnSpc>
                <a:spcPct val="90000"/>
              </a:lnSpc>
              <a:spcBef>
                <a:spcPts val="2400"/>
              </a:spcBef>
              <a:spcAft>
                <a:spcPts val="0"/>
              </a:spcAft>
              <a:buClr>
                <a:srgbClr val="888888"/>
              </a:buClr>
              <a:buSzPts val="7680"/>
              <a:buNone/>
              <a:defRPr sz="7680">
                <a:solidFill>
                  <a:srgbClr val="888888"/>
                </a:solidFill>
              </a:defRPr>
            </a:lvl9pPr>
          </a:lstStyle>
          <a:p/>
        </p:txBody>
      </p:sp>
      <p:sp>
        <p:nvSpPr>
          <p:cNvPr id="26" name="Google Shape;26;p5"/>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30175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2" name="Google Shape;32;p6"/>
          <p:cNvSpPr txBox="1"/>
          <p:nvPr>
            <p:ph idx="2" type="body"/>
          </p:nvPr>
        </p:nvSpPr>
        <p:spPr>
          <a:xfrm>
            <a:off x="222199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3" name="Google Shape;33;p6"/>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3023237"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3023242" y="8069582"/>
            <a:ext cx="18568032"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39" name="Google Shape;39;p7"/>
          <p:cNvSpPr txBox="1"/>
          <p:nvPr>
            <p:ph idx="2" type="body"/>
          </p:nvPr>
        </p:nvSpPr>
        <p:spPr>
          <a:xfrm>
            <a:off x="3023242" y="12024360"/>
            <a:ext cx="18568032"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0" name="Google Shape;40;p7"/>
          <p:cNvSpPr txBox="1"/>
          <p:nvPr>
            <p:ph idx="3" type="body"/>
          </p:nvPr>
        </p:nvSpPr>
        <p:spPr>
          <a:xfrm>
            <a:off x="22219922" y="8069582"/>
            <a:ext cx="18659477"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1" name="Google Shape;41;p7"/>
          <p:cNvSpPr txBox="1"/>
          <p:nvPr>
            <p:ph idx="4" type="body"/>
          </p:nvPr>
        </p:nvSpPr>
        <p:spPr>
          <a:xfrm>
            <a:off x="22219922" y="12024360"/>
            <a:ext cx="18659477"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2" name="Google Shape;42;p7"/>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18659477" y="4739647"/>
            <a:ext cx="22219920" cy="23393400"/>
          </a:xfrm>
          <a:prstGeom prst="rect">
            <a:avLst/>
          </a:prstGeom>
          <a:noFill/>
          <a:ln>
            <a:noFill/>
          </a:ln>
        </p:spPr>
        <p:txBody>
          <a:bodyPr anchorCtr="0" anchor="t" bIns="45700" lIns="91425" spcFirstLastPara="1" rIns="91425" wrap="square" tIns="45700">
            <a:normAutofit/>
          </a:bodyPr>
          <a:lstStyle>
            <a:lvl1pPr indent="-1203960" lvl="0" marL="457200" algn="l">
              <a:lnSpc>
                <a:spcPct val="90000"/>
              </a:lnSpc>
              <a:spcBef>
                <a:spcPts val="4800"/>
              </a:spcBef>
              <a:spcAft>
                <a:spcPts val="0"/>
              </a:spcAft>
              <a:buClr>
                <a:schemeClr val="dk1"/>
              </a:buClr>
              <a:buSzPts val="15360"/>
              <a:buChar char="•"/>
              <a:defRPr sz="15360"/>
            </a:lvl1pPr>
            <a:lvl2pPr indent="-1082040" lvl="1" marL="914400" algn="l">
              <a:lnSpc>
                <a:spcPct val="90000"/>
              </a:lnSpc>
              <a:spcBef>
                <a:spcPts val="2400"/>
              </a:spcBef>
              <a:spcAft>
                <a:spcPts val="0"/>
              </a:spcAft>
              <a:buClr>
                <a:schemeClr val="dk1"/>
              </a:buClr>
              <a:buSzPts val="13440"/>
              <a:buChar char="•"/>
              <a:defRPr sz="13439"/>
            </a:lvl2pPr>
            <a:lvl3pPr indent="-960120" lvl="2" marL="1371600" algn="l">
              <a:lnSpc>
                <a:spcPct val="90000"/>
              </a:lnSpc>
              <a:spcBef>
                <a:spcPts val="2400"/>
              </a:spcBef>
              <a:spcAft>
                <a:spcPts val="0"/>
              </a:spcAft>
              <a:buClr>
                <a:schemeClr val="dk1"/>
              </a:buClr>
              <a:buSzPts val="11520"/>
              <a:buChar char="•"/>
              <a:defRPr sz="11520"/>
            </a:lvl3pPr>
            <a:lvl4pPr indent="-838200" lvl="3" marL="1828800" algn="l">
              <a:lnSpc>
                <a:spcPct val="90000"/>
              </a:lnSpc>
              <a:spcBef>
                <a:spcPts val="2400"/>
              </a:spcBef>
              <a:spcAft>
                <a:spcPts val="0"/>
              </a:spcAft>
              <a:buClr>
                <a:schemeClr val="dk1"/>
              </a:buClr>
              <a:buSzPts val="9600"/>
              <a:buChar char="•"/>
              <a:defRPr sz="9600"/>
            </a:lvl4pPr>
            <a:lvl5pPr indent="-838200" lvl="4" marL="2286000" algn="l">
              <a:lnSpc>
                <a:spcPct val="90000"/>
              </a:lnSpc>
              <a:spcBef>
                <a:spcPts val="2400"/>
              </a:spcBef>
              <a:spcAft>
                <a:spcPts val="0"/>
              </a:spcAft>
              <a:buClr>
                <a:schemeClr val="dk1"/>
              </a:buClr>
              <a:buSzPts val="9600"/>
              <a:buChar char="•"/>
              <a:defRPr sz="9600"/>
            </a:lvl5pPr>
            <a:lvl6pPr indent="-838200" lvl="5" marL="2743200" algn="l">
              <a:lnSpc>
                <a:spcPct val="90000"/>
              </a:lnSpc>
              <a:spcBef>
                <a:spcPts val="2400"/>
              </a:spcBef>
              <a:spcAft>
                <a:spcPts val="0"/>
              </a:spcAft>
              <a:buClr>
                <a:schemeClr val="dk1"/>
              </a:buClr>
              <a:buSzPts val="9600"/>
              <a:buChar char="•"/>
              <a:defRPr sz="9600"/>
            </a:lvl6pPr>
            <a:lvl7pPr indent="-838200" lvl="6" marL="3200400" algn="l">
              <a:lnSpc>
                <a:spcPct val="90000"/>
              </a:lnSpc>
              <a:spcBef>
                <a:spcPts val="2400"/>
              </a:spcBef>
              <a:spcAft>
                <a:spcPts val="0"/>
              </a:spcAft>
              <a:buClr>
                <a:schemeClr val="dk1"/>
              </a:buClr>
              <a:buSzPts val="9600"/>
              <a:buChar char="•"/>
              <a:defRPr sz="9600"/>
            </a:lvl7pPr>
            <a:lvl8pPr indent="-838200" lvl="7" marL="3657600" algn="l">
              <a:lnSpc>
                <a:spcPct val="90000"/>
              </a:lnSpc>
              <a:spcBef>
                <a:spcPts val="2400"/>
              </a:spcBef>
              <a:spcAft>
                <a:spcPts val="0"/>
              </a:spcAft>
              <a:buClr>
                <a:schemeClr val="dk1"/>
              </a:buClr>
              <a:buSzPts val="9600"/>
              <a:buChar char="•"/>
              <a:defRPr sz="9600"/>
            </a:lvl8pPr>
            <a:lvl9pPr indent="-838200" lvl="8" marL="4114800" algn="l">
              <a:lnSpc>
                <a:spcPct val="90000"/>
              </a:lnSpc>
              <a:spcBef>
                <a:spcPts val="2400"/>
              </a:spcBef>
              <a:spcAft>
                <a:spcPts val="0"/>
              </a:spcAft>
              <a:buClr>
                <a:schemeClr val="dk1"/>
              </a:buClr>
              <a:buSzPts val="9600"/>
              <a:buChar char="•"/>
              <a:defRPr sz="9600"/>
            </a:lvl9pPr>
          </a:lstStyle>
          <a:p/>
        </p:txBody>
      </p:sp>
      <p:sp>
        <p:nvSpPr>
          <p:cNvPr id="57" name="Google Shape;57;p10"/>
          <p:cNvSpPr txBox="1"/>
          <p:nvPr>
            <p:ph idx="2"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58" name="Google Shape;58;p10"/>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18659477" y="4739647"/>
            <a:ext cx="22219920" cy="23393400"/>
          </a:xfrm>
          <a:prstGeom prst="rect">
            <a:avLst/>
          </a:prstGeom>
          <a:noFill/>
          <a:ln>
            <a:noFill/>
          </a:ln>
        </p:spPr>
      </p:sp>
      <p:sp>
        <p:nvSpPr>
          <p:cNvPr id="64" name="Google Shape;64;p11"/>
          <p:cNvSpPr txBox="1"/>
          <p:nvPr>
            <p:ph idx="1"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5" name="Google Shape;65;p11"/>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11502389" y="278131"/>
            <a:ext cx="20886422" cy="378561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1" name="Google Shape;71;p1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22193251" y="10968991"/>
            <a:ext cx="27896822" cy="94640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2990851" y="1779271"/>
            <a:ext cx="27896822" cy="27843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7" name="Google Shape;77;p1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1120"/>
              <a:buFont typeface="Calibri"/>
              <a:buNone/>
              <a:defRPr b="0" i="0" sz="2112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1082040" lvl="0" marL="457200" marR="0" rtl="0" algn="l">
              <a:lnSpc>
                <a:spcPct val="90000"/>
              </a:lnSpc>
              <a:spcBef>
                <a:spcPts val="4800"/>
              </a:spcBef>
              <a:spcAft>
                <a:spcPts val="0"/>
              </a:spcAft>
              <a:buClr>
                <a:schemeClr val="dk1"/>
              </a:buClr>
              <a:buSzPts val="13440"/>
              <a:buFont typeface="Arial"/>
              <a:buChar char="•"/>
              <a:defRPr b="0" i="0" sz="13439" u="none" cap="none" strike="noStrike">
                <a:solidFill>
                  <a:schemeClr val="dk1"/>
                </a:solidFill>
                <a:latin typeface="Calibri"/>
                <a:ea typeface="Calibri"/>
                <a:cs typeface="Calibri"/>
                <a:sym typeface="Calibri"/>
              </a:defRPr>
            </a:lvl1pPr>
            <a:lvl2pPr indent="-960120" lvl="1" marL="914400" marR="0" rtl="0" algn="l">
              <a:lnSpc>
                <a:spcPct val="90000"/>
              </a:lnSpc>
              <a:spcBef>
                <a:spcPts val="2400"/>
              </a:spcBef>
              <a:spcAft>
                <a:spcPts val="0"/>
              </a:spcAft>
              <a:buClr>
                <a:schemeClr val="dk1"/>
              </a:buClr>
              <a:buSzPts val="11520"/>
              <a:buFont typeface="Arial"/>
              <a:buChar char="•"/>
              <a:defRPr b="0" i="0" sz="11520" u="none" cap="none" strike="noStrike">
                <a:solidFill>
                  <a:schemeClr val="dk1"/>
                </a:solidFill>
                <a:latin typeface="Calibri"/>
                <a:ea typeface="Calibri"/>
                <a:cs typeface="Calibri"/>
                <a:sym typeface="Calibri"/>
              </a:defRPr>
            </a:lvl2pPr>
            <a:lvl3pPr indent="-838200" lvl="2" marL="1371600" marR="0" rtl="0" algn="l">
              <a:lnSpc>
                <a:spcPct val="90000"/>
              </a:lnSpc>
              <a:spcBef>
                <a:spcPts val="24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58"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5760" u="none" cap="none" strike="noStrike">
                <a:solidFill>
                  <a:srgbClr val="888888"/>
                </a:solidFill>
                <a:latin typeface="Calibri"/>
                <a:ea typeface="Calibri"/>
                <a:cs typeface="Calibri"/>
                <a:sym typeface="Calibri"/>
              </a:defRPr>
            </a:lvl1pPr>
            <a:lvl2pPr indent="0" lvl="1" marL="0" marR="0" rtl="0" algn="r">
              <a:spcBef>
                <a:spcPts val="0"/>
              </a:spcBef>
              <a:buNone/>
              <a:defRPr b="0" i="0" sz="5760" u="none" cap="none" strike="noStrike">
                <a:solidFill>
                  <a:srgbClr val="888888"/>
                </a:solidFill>
                <a:latin typeface="Calibri"/>
                <a:ea typeface="Calibri"/>
                <a:cs typeface="Calibri"/>
                <a:sym typeface="Calibri"/>
              </a:defRPr>
            </a:lvl2pPr>
            <a:lvl3pPr indent="0" lvl="2" marL="0" marR="0" rtl="0" algn="r">
              <a:spcBef>
                <a:spcPts val="0"/>
              </a:spcBef>
              <a:buNone/>
              <a:defRPr b="0" i="0" sz="5760" u="none" cap="none" strike="noStrike">
                <a:solidFill>
                  <a:srgbClr val="888888"/>
                </a:solidFill>
                <a:latin typeface="Calibri"/>
                <a:ea typeface="Calibri"/>
                <a:cs typeface="Calibri"/>
                <a:sym typeface="Calibri"/>
              </a:defRPr>
            </a:lvl3pPr>
            <a:lvl4pPr indent="0" lvl="3" marL="0" marR="0" rtl="0" algn="r">
              <a:spcBef>
                <a:spcPts val="0"/>
              </a:spcBef>
              <a:buNone/>
              <a:defRPr b="0" i="0" sz="5760" u="none" cap="none" strike="noStrike">
                <a:solidFill>
                  <a:srgbClr val="888888"/>
                </a:solidFill>
                <a:latin typeface="Calibri"/>
                <a:ea typeface="Calibri"/>
                <a:cs typeface="Calibri"/>
                <a:sym typeface="Calibri"/>
              </a:defRPr>
            </a:lvl4pPr>
            <a:lvl5pPr indent="0" lvl="4" marL="0" marR="0" rtl="0" algn="r">
              <a:spcBef>
                <a:spcPts val="0"/>
              </a:spcBef>
              <a:buNone/>
              <a:defRPr b="0" i="0" sz="5760" u="none" cap="none" strike="noStrike">
                <a:solidFill>
                  <a:srgbClr val="888888"/>
                </a:solidFill>
                <a:latin typeface="Calibri"/>
                <a:ea typeface="Calibri"/>
                <a:cs typeface="Calibri"/>
                <a:sym typeface="Calibri"/>
              </a:defRPr>
            </a:lvl5pPr>
            <a:lvl6pPr indent="0" lvl="5" marL="0" marR="0" rtl="0" algn="r">
              <a:spcBef>
                <a:spcPts val="0"/>
              </a:spcBef>
              <a:buNone/>
              <a:defRPr b="0" i="0" sz="5760" u="none" cap="none" strike="noStrike">
                <a:solidFill>
                  <a:srgbClr val="888888"/>
                </a:solidFill>
                <a:latin typeface="Calibri"/>
                <a:ea typeface="Calibri"/>
                <a:cs typeface="Calibri"/>
                <a:sym typeface="Calibri"/>
              </a:defRPr>
            </a:lvl6pPr>
            <a:lvl7pPr indent="0" lvl="6" marL="0" marR="0" rtl="0" algn="r">
              <a:spcBef>
                <a:spcPts val="0"/>
              </a:spcBef>
              <a:buNone/>
              <a:defRPr b="0" i="0" sz="5760" u="none" cap="none" strike="noStrike">
                <a:solidFill>
                  <a:srgbClr val="888888"/>
                </a:solidFill>
                <a:latin typeface="Calibri"/>
                <a:ea typeface="Calibri"/>
                <a:cs typeface="Calibri"/>
                <a:sym typeface="Calibri"/>
              </a:defRPr>
            </a:lvl7pPr>
            <a:lvl8pPr indent="0" lvl="7" marL="0" marR="0" rtl="0" algn="r">
              <a:spcBef>
                <a:spcPts val="0"/>
              </a:spcBef>
              <a:buNone/>
              <a:defRPr b="0" i="0" sz="5760" u="none" cap="none" strike="noStrike">
                <a:solidFill>
                  <a:srgbClr val="888888"/>
                </a:solidFill>
                <a:latin typeface="Calibri"/>
                <a:ea typeface="Calibri"/>
                <a:cs typeface="Calibri"/>
                <a:sym typeface="Calibri"/>
              </a:defRPr>
            </a:lvl8pPr>
            <a:lvl9pPr indent="0" lvl="8" marL="0" marR="0" rtl="0" algn="r">
              <a:spcBef>
                <a:spcPts val="0"/>
              </a:spcBef>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afe4b6cf14_0_0"/>
          <p:cNvSpPr/>
          <p:nvPr/>
        </p:nvSpPr>
        <p:spPr>
          <a:xfrm>
            <a:off x="0" y="4732175"/>
            <a:ext cx="32766000" cy="251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g3afe4b6cf14_0_0"/>
          <p:cNvSpPr/>
          <p:nvPr/>
        </p:nvSpPr>
        <p:spPr>
          <a:xfrm>
            <a:off x="11125200" y="5524500"/>
            <a:ext cx="32766000" cy="251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6" name="Google Shape;86;g3afe4b6cf14_0_0"/>
          <p:cNvSpPr txBox="1"/>
          <p:nvPr/>
        </p:nvSpPr>
        <p:spPr>
          <a:xfrm>
            <a:off x="765125" y="6435200"/>
            <a:ext cx="9854400" cy="4971300"/>
          </a:xfrm>
          <a:prstGeom prst="rect">
            <a:avLst/>
          </a:prstGeom>
          <a:noFill/>
          <a:ln>
            <a:noFill/>
          </a:ln>
        </p:spPr>
        <p:txBody>
          <a:bodyPr anchorCtr="0" anchor="t" bIns="45700" lIns="91425" spcFirstLastPara="1" rIns="91425" wrap="square" tIns="45700">
            <a:spAutoFit/>
          </a:bodyPr>
          <a:lstStyle/>
          <a:p>
            <a:pPr indent="-368300" lvl="0" marL="45720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CS graduate students at Boise State University must select a permanent research advisor within their first or second semester.</a:t>
            </a:r>
            <a:br>
              <a:rPr lang="en-US" sz="2200">
                <a:solidFill>
                  <a:srgbClr val="0033A0"/>
                </a:solidFill>
                <a:latin typeface="Montserrat Medium"/>
                <a:ea typeface="Montserrat Medium"/>
                <a:cs typeface="Montserrat Medium"/>
                <a:sym typeface="Montserrat Medium"/>
              </a:rPr>
            </a:b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It is a critical, stressful, and time-sensitive requirement, and many students struggle to understand faculty research areas and current advisor availability due to fragmented and unclear information.</a:t>
            </a:r>
            <a:br>
              <a:rPr lang="en-US" sz="2200">
                <a:solidFill>
                  <a:srgbClr val="0033A0"/>
                </a:solidFill>
                <a:latin typeface="Montserrat Medium"/>
                <a:ea typeface="Montserrat Medium"/>
                <a:cs typeface="Montserrat Medium"/>
                <a:sym typeface="Montserrat Medium"/>
              </a:rPr>
            </a:b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100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We propose an AI-powered advisor recommendation system that provides accurate, context-aware guidance through natural-language interaction.</a:t>
            </a:r>
            <a:endParaRPr sz="2200">
              <a:solidFill>
                <a:srgbClr val="0033A0"/>
              </a:solidFill>
            </a:endParaRPr>
          </a:p>
        </p:txBody>
      </p:sp>
      <p:sp>
        <p:nvSpPr>
          <p:cNvPr id="87" name="Google Shape;87;g3afe4b6cf14_0_0"/>
          <p:cNvSpPr txBox="1"/>
          <p:nvPr/>
        </p:nvSpPr>
        <p:spPr>
          <a:xfrm>
            <a:off x="603681" y="4925909"/>
            <a:ext cx="65277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Introduction</a:t>
            </a:r>
            <a:endParaRPr sz="6000"/>
          </a:p>
        </p:txBody>
      </p:sp>
      <p:sp>
        <p:nvSpPr>
          <p:cNvPr id="88" name="Google Shape;88;g3afe4b6cf14_0_0"/>
          <p:cNvSpPr txBox="1"/>
          <p:nvPr/>
        </p:nvSpPr>
        <p:spPr>
          <a:xfrm>
            <a:off x="609462" y="12302461"/>
            <a:ext cx="95463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Novelty &amp; Contribution</a:t>
            </a:r>
            <a:endParaRPr/>
          </a:p>
        </p:txBody>
      </p:sp>
      <p:sp>
        <p:nvSpPr>
          <p:cNvPr id="89" name="Google Shape;89;g3afe4b6cf14_0_0"/>
          <p:cNvSpPr txBox="1"/>
          <p:nvPr/>
        </p:nvSpPr>
        <p:spPr>
          <a:xfrm>
            <a:off x="773600" y="13675891"/>
            <a:ext cx="9743400" cy="10591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300">
                <a:solidFill>
                  <a:srgbClr val="0033A0"/>
                </a:solidFill>
                <a:latin typeface="Montserrat"/>
                <a:ea typeface="Montserrat"/>
                <a:cs typeface="Montserrat"/>
                <a:sym typeface="Montserrat"/>
              </a:rPr>
              <a:t>Novelty</a:t>
            </a:r>
            <a:endParaRPr b="1" sz="2300">
              <a:solidFill>
                <a:srgbClr val="0033A0"/>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b="1" sz="2200">
              <a:solidFill>
                <a:srgbClr val="0033A0"/>
              </a:solidFill>
              <a:latin typeface="Montserrat"/>
              <a:ea typeface="Montserrat"/>
              <a:cs typeface="Montserrat"/>
              <a:sym typeface="Montserrat"/>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Advisor-specific, institution-specific: Targets research advisor selection for Boise State University CS, rather than course or program recommendation.</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Conversational RAG framework: Uses Retrieval-Augmented Generation to answer natural-language queries, instead of returning static similarity-based rankings.</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Interactive deployment: Implemented as a user-facing chatbot prototype, moving beyond offline recommendation models such as AVRD.</a:t>
            </a:r>
            <a:endParaRPr sz="2200">
              <a:solidFill>
                <a:srgbClr val="0033A0"/>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None/>
            </a:pPr>
            <a:r>
              <a:rPr b="1" lang="en-US" sz="2300">
                <a:solidFill>
                  <a:srgbClr val="0033A0"/>
                </a:solidFill>
                <a:latin typeface="Montserrat"/>
                <a:ea typeface="Montserrat"/>
                <a:cs typeface="Montserrat"/>
                <a:sym typeface="Montserrat"/>
              </a:rPr>
              <a:t>Contribution</a:t>
            </a:r>
            <a:endParaRPr b="1" sz="2300">
              <a:solidFill>
                <a:srgbClr val="0033A0"/>
              </a:solidFill>
              <a:latin typeface="Montserrat"/>
              <a:ea typeface="Montserrat"/>
              <a:cs typeface="Montserrat"/>
              <a:sym typeface="Montserrat"/>
            </a:endParaRPr>
          </a:p>
          <a:p>
            <a:pPr indent="0" lvl="0" marL="0" marR="0" rtl="0" algn="l">
              <a:lnSpc>
                <a:spcPct val="115000"/>
              </a:lnSpc>
              <a:spcBef>
                <a:spcPts val="0"/>
              </a:spcBef>
              <a:spcAft>
                <a:spcPts val="0"/>
              </a:spcAft>
              <a:buNone/>
            </a:pPr>
            <a:r>
              <a:t/>
            </a:r>
            <a:endParaRPr b="1" sz="2200">
              <a:solidFill>
                <a:srgbClr val="0033A0"/>
              </a:solidFill>
              <a:latin typeface="Montserrat"/>
              <a:ea typeface="Montserrat"/>
              <a:cs typeface="Montserrat"/>
              <a:sym typeface="Montserrat"/>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Design and implementation of a RAG-based conversational advisor recommendation system tailored to BSU CS graduate students.</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Creation of a structured faculty knowledge base containing research areas, publications, contact information, and advisor availability</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Development and evaluation of a user-friendly chatbot prototype that provides accurate, context-aware advisor guidance through natural-language interaction.</a:t>
            </a:r>
            <a:endParaRPr sz="2200">
              <a:solidFill>
                <a:srgbClr val="0033A0"/>
              </a:solidFill>
              <a:latin typeface="Montserrat Medium"/>
              <a:ea typeface="Montserrat Medium"/>
              <a:cs typeface="Montserrat Medium"/>
              <a:sym typeface="Montserrat Medium"/>
            </a:endParaRPr>
          </a:p>
        </p:txBody>
      </p:sp>
      <p:sp>
        <p:nvSpPr>
          <p:cNvPr id="90" name="Google Shape;90;g3afe4b6cf14_0_0"/>
          <p:cNvSpPr txBox="1"/>
          <p:nvPr/>
        </p:nvSpPr>
        <p:spPr>
          <a:xfrm>
            <a:off x="700675" y="979675"/>
            <a:ext cx="28979100" cy="22812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Font typeface="Arial"/>
              <a:buNone/>
            </a:pPr>
            <a:r>
              <a:rPr lang="en-US" sz="7900">
                <a:solidFill>
                  <a:schemeClr val="lt1"/>
                </a:solidFill>
                <a:latin typeface="Montserrat Black"/>
                <a:ea typeface="Montserrat Black"/>
                <a:cs typeface="Montserrat Black"/>
                <a:sym typeface="Montserrat Black"/>
              </a:rPr>
              <a:t>Retrieval-Augmented Conversational Advisor Recommendation for BSU CS Graduate Students</a:t>
            </a:r>
            <a:endParaRPr sz="300">
              <a:latin typeface="Montserrat Black"/>
              <a:ea typeface="Montserrat Black"/>
              <a:cs typeface="Montserrat Black"/>
              <a:sym typeface="Montserrat Black"/>
            </a:endParaRPr>
          </a:p>
        </p:txBody>
      </p:sp>
      <p:sp>
        <p:nvSpPr>
          <p:cNvPr descr="decorative" id="91" name="Google Shape;91;g3afe4b6cf14_0_0"/>
          <p:cNvSpPr txBox="1"/>
          <p:nvPr/>
        </p:nvSpPr>
        <p:spPr>
          <a:xfrm>
            <a:off x="12276050" y="3737600"/>
            <a:ext cx="15003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Montserrat SemiBold"/>
                <a:ea typeface="Montserrat SemiBold"/>
                <a:cs typeface="Montserrat SemiBold"/>
                <a:sym typeface="Montserrat SemiBold"/>
              </a:rPr>
              <a:t>Meherunnesa Tania, Afsana Afrin, Miguel Carrasco Belmar</a:t>
            </a:r>
            <a:endParaRPr sz="2000">
              <a:latin typeface="Montserrat SemiBold"/>
              <a:ea typeface="Montserrat SemiBold"/>
              <a:cs typeface="Montserrat SemiBold"/>
              <a:sym typeface="Montserrat SemiBold"/>
            </a:endParaRPr>
          </a:p>
        </p:txBody>
      </p:sp>
      <p:sp>
        <p:nvSpPr>
          <p:cNvPr id="92" name="Google Shape;92;g3afe4b6cf14_0_0"/>
          <p:cNvSpPr txBox="1"/>
          <p:nvPr/>
        </p:nvSpPr>
        <p:spPr>
          <a:xfrm>
            <a:off x="11074400" y="18855199"/>
            <a:ext cx="9743400" cy="12096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t/>
            </a:r>
            <a:endParaRPr sz="7258">
              <a:solidFill>
                <a:srgbClr val="0033A0"/>
              </a:solidFill>
              <a:latin typeface="Arial"/>
              <a:ea typeface="Arial"/>
              <a:cs typeface="Arial"/>
              <a:sym typeface="Arial"/>
            </a:endParaRPr>
          </a:p>
        </p:txBody>
      </p:sp>
      <p:sp>
        <p:nvSpPr>
          <p:cNvPr id="93" name="Google Shape;93;g3afe4b6cf14_0_0"/>
          <p:cNvSpPr txBox="1"/>
          <p:nvPr/>
        </p:nvSpPr>
        <p:spPr>
          <a:xfrm>
            <a:off x="11207970" y="4929130"/>
            <a:ext cx="163545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Proposed System</a:t>
            </a:r>
            <a:endParaRPr/>
          </a:p>
        </p:txBody>
      </p:sp>
      <p:sp>
        <p:nvSpPr>
          <p:cNvPr id="94" name="Google Shape;94;g3afe4b6cf14_0_0"/>
          <p:cNvSpPr txBox="1"/>
          <p:nvPr/>
        </p:nvSpPr>
        <p:spPr>
          <a:xfrm>
            <a:off x="11236675" y="18004400"/>
            <a:ext cx="57816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Prototype</a:t>
            </a:r>
            <a:endParaRPr/>
          </a:p>
        </p:txBody>
      </p:sp>
      <p:sp>
        <p:nvSpPr>
          <p:cNvPr id="95" name="Google Shape;95;g3afe4b6cf14_0_0"/>
          <p:cNvSpPr txBox="1"/>
          <p:nvPr/>
        </p:nvSpPr>
        <p:spPr>
          <a:xfrm>
            <a:off x="21970123" y="18097600"/>
            <a:ext cx="94182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Evaluation and Results</a:t>
            </a:r>
            <a:endParaRPr/>
          </a:p>
        </p:txBody>
      </p:sp>
      <p:sp>
        <p:nvSpPr>
          <p:cNvPr id="96" name="Google Shape;96;g3afe4b6cf14_0_0"/>
          <p:cNvSpPr txBox="1"/>
          <p:nvPr/>
        </p:nvSpPr>
        <p:spPr>
          <a:xfrm>
            <a:off x="11074400" y="22409034"/>
            <a:ext cx="9743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t/>
            </a:r>
            <a:endParaRPr/>
          </a:p>
        </p:txBody>
      </p:sp>
      <p:sp>
        <p:nvSpPr>
          <p:cNvPr descr="decorative" id="97" name="Google Shape;97;g3afe4b6cf14_0_0"/>
          <p:cNvSpPr/>
          <p:nvPr/>
        </p:nvSpPr>
        <p:spPr>
          <a:xfrm rot="10800000">
            <a:off x="773600" y="11879697"/>
            <a:ext cx="9418200" cy="549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descr="decorative" id="98" name="Google Shape;98;g3afe4b6cf14_0_0"/>
          <p:cNvSpPr/>
          <p:nvPr/>
        </p:nvSpPr>
        <p:spPr>
          <a:xfrm rot="10800000">
            <a:off x="11330850" y="17741990"/>
            <a:ext cx="9418200" cy="549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descr="decorative" id="99" name="Google Shape;99;g3afe4b6cf14_0_0"/>
          <p:cNvSpPr/>
          <p:nvPr/>
        </p:nvSpPr>
        <p:spPr>
          <a:xfrm rot="10800000">
            <a:off x="21749677" y="17741990"/>
            <a:ext cx="10058400" cy="549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descr="decorative" id="100" name="Google Shape;100;g3afe4b6cf14_0_0"/>
          <p:cNvSpPr/>
          <p:nvPr/>
        </p:nvSpPr>
        <p:spPr>
          <a:xfrm rot="10800000">
            <a:off x="33410253" y="13065141"/>
            <a:ext cx="9692700" cy="549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descr="decorative" id="101" name="Google Shape;101;g3afe4b6cf14_0_0"/>
          <p:cNvSpPr/>
          <p:nvPr/>
        </p:nvSpPr>
        <p:spPr>
          <a:xfrm rot="10800000">
            <a:off x="829595" y="24708708"/>
            <a:ext cx="9418200" cy="549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id="102" name="Google Shape;102;g3afe4b6cf14_0_0"/>
          <p:cNvSpPr txBox="1"/>
          <p:nvPr/>
        </p:nvSpPr>
        <p:spPr>
          <a:xfrm>
            <a:off x="33410775" y="6119044"/>
            <a:ext cx="9680400" cy="6661800"/>
          </a:xfrm>
          <a:prstGeom prst="rect">
            <a:avLst/>
          </a:prstGeom>
          <a:noFill/>
          <a:ln>
            <a:noFill/>
          </a:ln>
        </p:spPr>
        <p:txBody>
          <a:bodyPr anchorCtr="0" anchor="t" bIns="45700" lIns="91425" spcFirstLastPara="1" rIns="91425" wrap="square" tIns="45700">
            <a:spAutoFit/>
          </a:bodyPr>
          <a:lstStyle/>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A Retrieval-Augmented Generation (RAG) architecture is effective for advisor recommendation, combining semantic retrieval with natural-language reasoning rather than static ranked lists.</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Quantitative evaluation shows high top-rank retrieval accuracy (P@1 = 0.857), robust name handling (100% fuzzy-match accuracy), and low-latency performance, with ~0.3s retrieval time and ~1.1s end-to-end response time in real use.</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User feedback indicates that the system is intuitive and helpful, supporting confident advisor exploration through conversational interaction.</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Overall, the results demonstrate that institution-specific, conversational AI tools can meaningfully support high-stakes academic decisions such as research advisor selection.</a:t>
            </a:r>
            <a:endParaRPr sz="2200">
              <a:solidFill>
                <a:srgbClr val="0033A0"/>
              </a:solidFill>
              <a:latin typeface="Montserrat Medium"/>
              <a:ea typeface="Montserrat Medium"/>
              <a:cs typeface="Montserrat Medium"/>
              <a:sym typeface="Montserrat Medium"/>
            </a:endParaRPr>
          </a:p>
        </p:txBody>
      </p:sp>
      <p:sp>
        <p:nvSpPr>
          <p:cNvPr id="103" name="Google Shape;103;g3afe4b6cf14_0_0"/>
          <p:cNvSpPr txBox="1"/>
          <p:nvPr/>
        </p:nvSpPr>
        <p:spPr>
          <a:xfrm>
            <a:off x="33226902" y="17048175"/>
            <a:ext cx="184800" cy="5541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t/>
            </a:r>
            <a:endParaRPr sz="3000">
              <a:solidFill>
                <a:srgbClr val="0033A0"/>
              </a:solidFill>
              <a:latin typeface="Arial"/>
              <a:ea typeface="Arial"/>
              <a:cs typeface="Arial"/>
              <a:sym typeface="Arial"/>
            </a:endParaRPr>
          </a:p>
        </p:txBody>
      </p:sp>
      <p:sp>
        <p:nvSpPr>
          <p:cNvPr id="104" name="Google Shape;104;g3afe4b6cf14_0_0"/>
          <p:cNvSpPr txBox="1"/>
          <p:nvPr/>
        </p:nvSpPr>
        <p:spPr>
          <a:xfrm>
            <a:off x="638461" y="3712175"/>
            <a:ext cx="102855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800">
                <a:solidFill>
                  <a:schemeClr val="lt1"/>
                </a:solidFill>
                <a:latin typeface="Montserrat"/>
                <a:ea typeface="Montserrat"/>
                <a:cs typeface="Montserrat"/>
                <a:sym typeface="Montserrat"/>
              </a:rPr>
              <a:t>DEPARTMENT OF COMPUTER SCIENCE      </a:t>
            </a:r>
            <a:endParaRPr sz="1600">
              <a:solidFill>
                <a:schemeClr val="lt1"/>
              </a:solidFill>
            </a:endParaRPr>
          </a:p>
        </p:txBody>
      </p:sp>
      <p:sp>
        <p:nvSpPr>
          <p:cNvPr descr="decorative" id="105" name="Google Shape;105;g3afe4b6cf14_0_0"/>
          <p:cNvSpPr/>
          <p:nvPr/>
        </p:nvSpPr>
        <p:spPr>
          <a:xfrm rot="5400000">
            <a:off x="20451602" y="17901072"/>
            <a:ext cx="24344400" cy="558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id="106" name="Google Shape;106;g3afe4b6cf14_0_0"/>
          <p:cNvSpPr txBox="1"/>
          <p:nvPr/>
        </p:nvSpPr>
        <p:spPr>
          <a:xfrm>
            <a:off x="615049" y="25177202"/>
            <a:ext cx="65277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Dataset</a:t>
            </a:r>
            <a:endParaRPr sz="6000"/>
          </a:p>
        </p:txBody>
      </p:sp>
      <p:sp>
        <p:nvSpPr>
          <p:cNvPr id="107" name="Google Shape;107;g3afe4b6cf14_0_0"/>
          <p:cNvSpPr txBox="1"/>
          <p:nvPr/>
        </p:nvSpPr>
        <p:spPr>
          <a:xfrm>
            <a:off x="33275605" y="19790431"/>
            <a:ext cx="63846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Key </a:t>
            </a:r>
            <a:r>
              <a:rPr b="1" lang="en-US" sz="6000">
                <a:solidFill>
                  <a:srgbClr val="FA4616"/>
                </a:solidFill>
                <a:latin typeface="Montserrat"/>
                <a:ea typeface="Montserrat"/>
                <a:cs typeface="Montserrat"/>
                <a:sym typeface="Montserrat"/>
              </a:rPr>
              <a:t>References</a:t>
            </a:r>
            <a:endParaRPr sz="6000"/>
          </a:p>
        </p:txBody>
      </p:sp>
      <p:sp>
        <p:nvSpPr>
          <p:cNvPr descr="decorative" id="108" name="Google Shape;108;g3afe4b6cf14_0_0"/>
          <p:cNvSpPr/>
          <p:nvPr/>
        </p:nvSpPr>
        <p:spPr>
          <a:xfrm rot="10800000">
            <a:off x="33415023" y="19560080"/>
            <a:ext cx="9692700" cy="549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id="109" name="Google Shape;109;g3afe4b6cf14_0_0"/>
          <p:cNvSpPr txBox="1"/>
          <p:nvPr/>
        </p:nvSpPr>
        <p:spPr>
          <a:xfrm>
            <a:off x="33273547" y="13278995"/>
            <a:ext cx="100584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Future Work</a:t>
            </a:r>
            <a:endParaRPr sz="6000"/>
          </a:p>
        </p:txBody>
      </p:sp>
      <p:sp>
        <p:nvSpPr>
          <p:cNvPr id="110" name="Google Shape;110;g3afe4b6cf14_0_0"/>
          <p:cNvSpPr txBox="1"/>
          <p:nvPr/>
        </p:nvSpPr>
        <p:spPr>
          <a:xfrm>
            <a:off x="33287183" y="4896806"/>
            <a:ext cx="63846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rgbClr val="FA4616"/>
                </a:solidFill>
                <a:latin typeface="Montserrat"/>
                <a:ea typeface="Montserrat"/>
                <a:cs typeface="Montserrat"/>
                <a:sym typeface="Montserrat"/>
              </a:rPr>
              <a:t>Conclusions</a:t>
            </a:r>
            <a:endParaRPr sz="6000"/>
          </a:p>
        </p:txBody>
      </p:sp>
      <p:sp>
        <p:nvSpPr>
          <p:cNvPr id="111" name="Google Shape;111;g3afe4b6cf14_0_0"/>
          <p:cNvSpPr txBox="1"/>
          <p:nvPr/>
        </p:nvSpPr>
        <p:spPr>
          <a:xfrm>
            <a:off x="773603" y="26581542"/>
            <a:ext cx="9418200" cy="35196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Detailed dataset of Boise State University Computer Science faculty profiles, including position, research areas, publications, and contact details.</a:t>
            </a:r>
            <a:endParaRPr sz="2200">
              <a:solidFill>
                <a:srgbClr val="0033A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Data collected from trusted public sources, including BSU CS faculty webpages and Google Scholar profiles.</a:t>
            </a:r>
            <a:endParaRPr sz="2200">
              <a:solidFill>
                <a:srgbClr val="0033A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Dataset is institution-specific and structured to support retrieval in a RAG-based advisor recommendation system.</a:t>
            </a:r>
            <a:endParaRPr sz="2200">
              <a:solidFill>
                <a:srgbClr val="0033A0"/>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3600">
              <a:solidFill>
                <a:schemeClr val="dk1"/>
              </a:solidFill>
              <a:latin typeface="Calibri"/>
              <a:ea typeface="Calibri"/>
              <a:cs typeface="Calibri"/>
              <a:sym typeface="Calibri"/>
            </a:endParaRPr>
          </a:p>
        </p:txBody>
      </p:sp>
      <p:pic>
        <p:nvPicPr>
          <p:cNvPr id="112" name="Google Shape;112;g3afe4b6cf14_0_0" title="rag_final.png"/>
          <p:cNvPicPr preferRelativeResize="0"/>
          <p:nvPr/>
        </p:nvPicPr>
        <p:blipFill>
          <a:blip r:embed="rId3">
            <a:alphaModFix/>
          </a:blip>
          <a:stretch>
            <a:fillRect/>
          </a:stretch>
        </p:blipFill>
        <p:spPr>
          <a:xfrm>
            <a:off x="12233180" y="6155433"/>
            <a:ext cx="18905441" cy="8908050"/>
          </a:xfrm>
          <a:prstGeom prst="rect">
            <a:avLst/>
          </a:prstGeom>
          <a:noFill/>
          <a:ln>
            <a:noFill/>
          </a:ln>
        </p:spPr>
      </p:pic>
      <p:sp>
        <p:nvSpPr>
          <p:cNvPr descr="decorative" id="113" name="Google Shape;113;g3afe4b6cf14_0_0"/>
          <p:cNvSpPr/>
          <p:nvPr/>
        </p:nvSpPr>
        <p:spPr>
          <a:xfrm rot="5400000">
            <a:off x="-1580510" y="17897400"/>
            <a:ext cx="24344400" cy="558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id="114" name="Google Shape;114;g3afe4b6cf14_0_0"/>
          <p:cNvSpPr txBox="1"/>
          <p:nvPr/>
        </p:nvSpPr>
        <p:spPr>
          <a:xfrm>
            <a:off x="11257637" y="15275307"/>
            <a:ext cx="21550800" cy="1983900"/>
          </a:xfrm>
          <a:prstGeom prst="rect">
            <a:avLst/>
          </a:prstGeom>
          <a:noFill/>
          <a:ln>
            <a:noFill/>
          </a:ln>
        </p:spPr>
        <p:txBody>
          <a:bodyPr anchorCtr="0" anchor="t" bIns="45700" lIns="91425" spcFirstLastPara="1" rIns="91425" wrap="square" tIns="45700">
            <a:spAutoFit/>
          </a:bodyPr>
          <a:lstStyle/>
          <a:p>
            <a:pPr indent="-368300" lvl="0" marL="45720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Offline construction of a faculty knowledge base using profile enrichment and semantic embeddings (BAAI/bge-large-en-v1.5).</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Online retrieval via semantic search (cosine similarity) and fuzzy string matching for robust query handling.</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Context assembly and response generation using a RAG pipeline with Groq llama-3.3-70b-versatile.</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100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Natural-language advisor recommendations delivered through a Streamlit-based chatbot interface.</a:t>
            </a:r>
            <a:endParaRPr sz="2200">
              <a:solidFill>
                <a:srgbClr val="0033A0"/>
              </a:solidFill>
              <a:latin typeface="Montserrat Medium"/>
              <a:ea typeface="Montserrat Medium"/>
              <a:cs typeface="Montserrat Medium"/>
              <a:sym typeface="Montserrat Medium"/>
            </a:endParaRPr>
          </a:p>
        </p:txBody>
      </p:sp>
      <p:pic>
        <p:nvPicPr>
          <p:cNvPr id="115" name="Google Shape;115;g3afe4b6cf14_0_0"/>
          <p:cNvPicPr preferRelativeResize="0"/>
          <p:nvPr/>
        </p:nvPicPr>
        <p:blipFill>
          <a:blip r:embed="rId4">
            <a:alphaModFix/>
          </a:blip>
          <a:stretch>
            <a:fillRect/>
          </a:stretch>
        </p:blipFill>
        <p:spPr>
          <a:xfrm>
            <a:off x="11201336" y="19015859"/>
            <a:ext cx="9418200" cy="11260242"/>
          </a:xfrm>
          <a:prstGeom prst="rect">
            <a:avLst/>
          </a:prstGeom>
          <a:noFill/>
          <a:ln>
            <a:noFill/>
          </a:ln>
        </p:spPr>
      </p:pic>
      <p:sp>
        <p:nvSpPr>
          <p:cNvPr id="116" name="Google Shape;116;g3afe4b6cf14_0_0"/>
          <p:cNvSpPr txBox="1"/>
          <p:nvPr/>
        </p:nvSpPr>
        <p:spPr>
          <a:xfrm>
            <a:off x="11153100" y="30326801"/>
            <a:ext cx="9597000" cy="6156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1000"/>
              </a:spcAft>
              <a:buNone/>
            </a:pPr>
            <a:r>
              <a:rPr i="1" lang="en-US" sz="1700">
                <a:solidFill>
                  <a:srgbClr val="0033A0"/>
                </a:solidFill>
                <a:latin typeface="Montserrat Medium"/>
                <a:ea typeface="Montserrat Medium"/>
                <a:cs typeface="Montserrat Medium"/>
                <a:sym typeface="Montserrat Medium"/>
              </a:rPr>
              <a:t>Streamlit-based chatbot prototype demonstrating natural-language advisor queries and context-aware recommendations.</a:t>
            </a:r>
            <a:endParaRPr i="1" sz="1700">
              <a:solidFill>
                <a:srgbClr val="0033A0"/>
              </a:solidFill>
              <a:latin typeface="Montserrat Medium"/>
              <a:ea typeface="Montserrat Medium"/>
              <a:cs typeface="Montserrat Medium"/>
              <a:sym typeface="Montserrat Medium"/>
            </a:endParaRPr>
          </a:p>
        </p:txBody>
      </p:sp>
      <p:sp>
        <p:nvSpPr>
          <p:cNvPr id="117" name="Google Shape;117;g3afe4b6cf14_0_0"/>
          <p:cNvSpPr txBox="1"/>
          <p:nvPr/>
        </p:nvSpPr>
        <p:spPr>
          <a:xfrm>
            <a:off x="33419930" y="14546387"/>
            <a:ext cx="9680400" cy="4714800"/>
          </a:xfrm>
          <a:prstGeom prst="rect">
            <a:avLst/>
          </a:prstGeom>
          <a:noFill/>
          <a:ln>
            <a:noFill/>
          </a:ln>
        </p:spPr>
        <p:txBody>
          <a:bodyPr anchorCtr="0" anchor="t" bIns="45700" lIns="91425" spcFirstLastPara="1" rIns="91425" wrap="square" tIns="45700">
            <a:spAutoFit/>
          </a:bodyPr>
          <a:lstStyle/>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Migrate from static CSV files to a cloud-based, live database to enable automatic updates to faculty information.</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Deploy the system publicly so students can access it outside the development environment (e.g., through a BSU-hosted platform).</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Extend the system to additional departments beyond Computer Science within Boise State University.</a:t>
            </a:r>
            <a:endParaRPr sz="2200">
              <a:solidFill>
                <a:srgbClr val="0033A0"/>
              </a:solidFill>
              <a:latin typeface="Montserrat Medium"/>
              <a:ea typeface="Montserrat Medium"/>
              <a:cs typeface="Montserrat Medium"/>
              <a:sym typeface="Montserrat Medium"/>
            </a:endParaRPr>
          </a:p>
          <a:p>
            <a:pPr indent="0" lvl="0" marL="457200" marR="0" rtl="0" algn="l">
              <a:lnSpc>
                <a:spcPct val="115000"/>
              </a:lnSpc>
              <a:spcBef>
                <a:spcPts val="0"/>
              </a:spcBef>
              <a:spcAft>
                <a:spcPts val="0"/>
              </a:spcAft>
              <a:buNone/>
            </a:pPr>
            <a:r>
              <a:t/>
            </a:r>
            <a:endParaRPr sz="2200">
              <a:solidFill>
                <a:srgbClr val="0033A0"/>
              </a:solidFill>
              <a:latin typeface="Montserrat Medium"/>
              <a:ea typeface="Montserrat Medium"/>
              <a:cs typeface="Montserrat Medium"/>
              <a:sym typeface="Montserrat Medium"/>
            </a:endParaRPr>
          </a:p>
          <a:p>
            <a:pPr indent="-368300" lvl="0" marL="457200" marR="0" rtl="0" algn="l">
              <a:lnSpc>
                <a:spcPct val="115000"/>
              </a:lnSpc>
              <a:spcBef>
                <a:spcPts val="0"/>
              </a:spcBef>
              <a:spcAft>
                <a:spcPts val="0"/>
              </a:spcAft>
              <a:buClr>
                <a:srgbClr val="0033A0"/>
              </a:buClr>
              <a:buSzPts val="2200"/>
              <a:buFont typeface="Montserrat Medium"/>
              <a:buChar char="●"/>
            </a:pPr>
            <a:r>
              <a:rPr lang="en-US" sz="2200">
                <a:solidFill>
                  <a:srgbClr val="0033A0"/>
                </a:solidFill>
                <a:latin typeface="Montserrat Medium"/>
                <a:ea typeface="Montserrat Medium"/>
                <a:cs typeface="Montserrat Medium"/>
                <a:sym typeface="Montserrat Medium"/>
              </a:rPr>
              <a:t>Generalize the platform for use at other institutions, enabling cross-university advisor recommendation</a:t>
            </a:r>
            <a:endParaRPr sz="2200">
              <a:solidFill>
                <a:srgbClr val="0033A0"/>
              </a:solidFill>
              <a:latin typeface="Montserrat Medium"/>
              <a:ea typeface="Montserrat Medium"/>
              <a:cs typeface="Montserrat Medium"/>
              <a:sym typeface="Montserrat Medium"/>
            </a:endParaRPr>
          </a:p>
        </p:txBody>
      </p:sp>
      <p:sp>
        <p:nvSpPr>
          <p:cNvPr descr="decorative" id="118" name="Google Shape;118;g3afe4b6cf14_0_0"/>
          <p:cNvSpPr/>
          <p:nvPr/>
        </p:nvSpPr>
        <p:spPr>
          <a:xfrm rot="5400000">
            <a:off x="15089880" y="23902606"/>
            <a:ext cx="12344400" cy="5580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58">
              <a:solidFill>
                <a:schemeClr val="lt1"/>
              </a:solidFill>
              <a:latin typeface="Calibri"/>
              <a:ea typeface="Calibri"/>
              <a:cs typeface="Calibri"/>
              <a:sym typeface="Calibri"/>
            </a:endParaRPr>
          </a:p>
        </p:txBody>
      </p:sp>
      <p:sp>
        <p:nvSpPr>
          <p:cNvPr id="119" name="Google Shape;119;g3afe4b6cf14_0_0"/>
          <p:cNvSpPr txBox="1"/>
          <p:nvPr/>
        </p:nvSpPr>
        <p:spPr>
          <a:xfrm>
            <a:off x="33410780" y="21130693"/>
            <a:ext cx="9680400" cy="471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2000">
                <a:solidFill>
                  <a:srgbClr val="0033A0"/>
                </a:solidFill>
                <a:latin typeface="Montserrat Medium"/>
                <a:ea typeface="Montserrat Medium"/>
                <a:cs typeface="Montserrat Medium"/>
                <a:sym typeface="Montserrat Medium"/>
              </a:rPr>
              <a:t>[1] Boise State University, Computer Science Master’s Student Handbook, 2025.</a:t>
            </a:r>
            <a:br>
              <a:rPr lang="en-US" sz="2000">
                <a:solidFill>
                  <a:srgbClr val="0033A0"/>
                </a:solidFill>
                <a:latin typeface="Montserrat Medium"/>
                <a:ea typeface="Montserrat Medium"/>
                <a:cs typeface="Montserrat Medium"/>
                <a:sym typeface="Montserrat Medium"/>
              </a:rPr>
            </a:br>
            <a:endParaRPr sz="2000">
              <a:solidFill>
                <a:srgbClr val="0033A0"/>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None/>
            </a:pPr>
            <a:r>
              <a:rPr lang="en-US" sz="2000">
                <a:solidFill>
                  <a:srgbClr val="0033A0"/>
                </a:solidFill>
                <a:latin typeface="Montserrat Medium"/>
                <a:ea typeface="Montserrat Medium"/>
                <a:cs typeface="Montserrat Medium"/>
                <a:sym typeface="Montserrat Medium"/>
              </a:rPr>
              <a:t>[2] N. Kamal, F. Sarker, A. Rahman, S. Hossain, and K. A. Mamun, “Recommender system in academic choices of higher education: A systematic review,” IEEE Access, vol. 12, pp. 35475–35501, 2024.</a:t>
            </a:r>
            <a:endParaRPr sz="2000">
              <a:solidFill>
                <a:srgbClr val="0033A0"/>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None/>
            </a:pPr>
            <a:br>
              <a:rPr lang="en-US" sz="2000">
                <a:solidFill>
                  <a:srgbClr val="0033A0"/>
                </a:solidFill>
                <a:latin typeface="Montserrat Medium"/>
                <a:ea typeface="Montserrat Medium"/>
                <a:cs typeface="Montserrat Medium"/>
                <a:sym typeface="Montserrat Medium"/>
              </a:rPr>
            </a:br>
            <a:r>
              <a:rPr lang="en-US" sz="2000">
                <a:solidFill>
                  <a:srgbClr val="0033A0"/>
                </a:solidFill>
                <a:latin typeface="Montserrat Medium"/>
                <a:ea typeface="Montserrat Medium"/>
                <a:cs typeface="Montserrat Medium"/>
                <a:sym typeface="Montserrat Medium"/>
              </a:rPr>
              <a:t>[3</a:t>
            </a:r>
            <a:r>
              <a:rPr lang="en-US" sz="2000">
                <a:solidFill>
                  <a:srgbClr val="0033A0"/>
                </a:solidFill>
                <a:latin typeface="Montserrat Medium"/>
                <a:ea typeface="Montserrat Medium"/>
                <a:cs typeface="Montserrat Medium"/>
                <a:sym typeface="Montserrat Medium"/>
              </a:rPr>
              <a:t>] X. Wang, J. Zhou, L. Jian, Y. Yin, and L. Li, “Empowering college students to select ideal advisors: A text-based recommendation model,” Frontiers in Education, vol. 10, 1673956, Oct. 2025.</a:t>
            </a:r>
            <a:endParaRPr sz="2000">
              <a:solidFill>
                <a:srgbClr val="0033A0"/>
              </a:solidFill>
              <a:latin typeface="Montserrat Medium"/>
              <a:ea typeface="Montserrat Medium"/>
              <a:cs typeface="Montserrat Medium"/>
              <a:sym typeface="Montserrat Medium"/>
            </a:endParaRPr>
          </a:p>
          <a:p>
            <a:pPr indent="0" lvl="0" marL="0" marR="0" rtl="0" algn="l">
              <a:lnSpc>
                <a:spcPct val="100000"/>
              </a:lnSpc>
              <a:spcBef>
                <a:spcPts val="0"/>
              </a:spcBef>
              <a:spcAft>
                <a:spcPts val="0"/>
              </a:spcAft>
              <a:buNone/>
            </a:pPr>
            <a:br>
              <a:rPr lang="en-US" sz="2000">
                <a:solidFill>
                  <a:srgbClr val="0033A0"/>
                </a:solidFill>
                <a:latin typeface="Montserrat Medium"/>
                <a:ea typeface="Montserrat Medium"/>
                <a:cs typeface="Montserrat Medium"/>
                <a:sym typeface="Montserrat Medium"/>
              </a:rPr>
            </a:br>
            <a:r>
              <a:rPr lang="en-US" sz="2000">
                <a:solidFill>
                  <a:srgbClr val="0033A0"/>
                </a:solidFill>
                <a:latin typeface="Montserrat Medium"/>
                <a:ea typeface="Montserrat Medium"/>
                <a:cs typeface="Montserrat Medium"/>
                <a:sym typeface="Montserrat Medium"/>
              </a:rPr>
              <a:t>[4] A. Baskota and Y.-K. Ng, “A graduate school recommendation system using the multi-class support vector machine and kNN approaches,” in Proc. IEEE Int. Conf. Information Reuse and Integration (IRI), 2018, pp. 277–284.</a:t>
            </a:r>
            <a:endParaRPr sz="2000">
              <a:solidFill>
                <a:srgbClr val="0033A0"/>
              </a:solidFill>
              <a:latin typeface="Montserrat Medium"/>
              <a:ea typeface="Montserrat Medium"/>
              <a:cs typeface="Montserrat Medium"/>
              <a:sym typeface="Montserrat Medium"/>
            </a:endParaRPr>
          </a:p>
        </p:txBody>
      </p:sp>
      <p:sp>
        <p:nvSpPr>
          <p:cNvPr id="120" name="Google Shape;120;g3afe4b6cf14_0_0"/>
          <p:cNvSpPr txBox="1"/>
          <p:nvPr/>
        </p:nvSpPr>
        <p:spPr>
          <a:xfrm>
            <a:off x="32730699" y="27346025"/>
            <a:ext cx="6384600" cy="1723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300">
                <a:solidFill>
                  <a:srgbClr val="FA4616"/>
                </a:solidFill>
                <a:latin typeface="Montserrat"/>
                <a:ea typeface="Montserrat"/>
                <a:cs typeface="Montserrat"/>
                <a:sym typeface="Montserrat"/>
              </a:rPr>
              <a:t>Scan for </a:t>
            </a:r>
            <a:endParaRPr b="1" sz="5300">
              <a:solidFill>
                <a:srgbClr val="FA4616"/>
              </a:solidFill>
              <a:latin typeface="Montserrat"/>
              <a:ea typeface="Montserrat"/>
              <a:cs typeface="Montserrat"/>
              <a:sym typeface="Montserrat"/>
            </a:endParaRPr>
          </a:p>
          <a:p>
            <a:pPr indent="0" lvl="0" marL="0" marR="0" rtl="0" algn="ctr">
              <a:spcBef>
                <a:spcPts val="0"/>
              </a:spcBef>
              <a:spcAft>
                <a:spcPts val="0"/>
              </a:spcAft>
              <a:buNone/>
            </a:pPr>
            <a:r>
              <a:rPr b="1" lang="en-US" sz="5300">
                <a:solidFill>
                  <a:srgbClr val="FA4616"/>
                </a:solidFill>
                <a:latin typeface="Montserrat"/>
                <a:ea typeface="Montserrat"/>
                <a:cs typeface="Montserrat"/>
                <a:sym typeface="Montserrat"/>
              </a:rPr>
              <a:t>Live Demo</a:t>
            </a:r>
            <a:endParaRPr sz="5300"/>
          </a:p>
        </p:txBody>
      </p:sp>
      <p:sp>
        <p:nvSpPr>
          <p:cNvPr id="121" name="Google Shape;121;g3afe4b6cf14_0_0"/>
          <p:cNvSpPr txBox="1"/>
          <p:nvPr/>
        </p:nvSpPr>
        <p:spPr>
          <a:xfrm>
            <a:off x="22015725" y="19275550"/>
            <a:ext cx="9743400" cy="5360700"/>
          </a:xfrm>
          <a:prstGeom prst="rect">
            <a:avLst/>
          </a:prstGeom>
          <a:noFill/>
          <a:ln>
            <a:noFill/>
          </a:ln>
        </p:spPr>
        <p:txBody>
          <a:bodyPr anchorCtr="0" anchor="t" bIns="45700" lIns="91425" spcFirstLastPara="1" rIns="91425" wrap="square" tIns="45700">
            <a:spAutoFit/>
          </a:bodyPr>
          <a:lstStyle/>
          <a:p>
            <a:pPr indent="-368300" lvl="0" marL="457200" rtl="0" algn="l">
              <a:lnSpc>
                <a:spcPct val="115000"/>
              </a:lnSpc>
              <a:spcBef>
                <a:spcPts val="0"/>
              </a:spcBef>
              <a:spcAft>
                <a:spcPts val="0"/>
              </a:spcAft>
              <a:buClr>
                <a:srgbClr val="0033A0"/>
              </a:buClr>
              <a:buSzPts val="2200"/>
              <a:buFont typeface="Montserrat Medium"/>
              <a:buChar char="●"/>
            </a:pPr>
            <a:r>
              <a:rPr b="1" lang="en-US" sz="2200">
                <a:solidFill>
                  <a:srgbClr val="0033A0"/>
                </a:solidFill>
                <a:latin typeface="Montserrat"/>
                <a:ea typeface="Montserrat"/>
                <a:cs typeface="Montserrat"/>
                <a:sym typeface="Montserrat"/>
              </a:rPr>
              <a:t>Automated Evaluation:</a:t>
            </a:r>
            <a:r>
              <a:rPr lang="en-US" sz="2200">
                <a:solidFill>
                  <a:srgbClr val="0033A0"/>
                </a:solidFill>
                <a:latin typeface="Montserrat Medium"/>
                <a:ea typeface="Montserrat Medium"/>
                <a:cs typeface="Montserrat Medium"/>
                <a:sym typeface="Montserrat Medium"/>
              </a:rPr>
              <a:t>  High retrieval performance across research domains (Avg P@1 = 0.857, P@3 = 0.619) with 100% accuracy on misspelled faculty name matching. Retrieval averages ~0.3s, with end-to-end responses around ~1.1s, supporting real-time interaction.</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0"/>
              </a:spcAft>
              <a:buClr>
                <a:srgbClr val="0033A0"/>
              </a:buClr>
              <a:buSzPts val="2200"/>
              <a:buFont typeface="Montserrat Medium"/>
              <a:buChar char="●"/>
            </a:pPr>
            <a:r>
              <a:rPr b="1" lang="en-US" sz="2200">
                <a:solidFill>
                  <a:srgbClr val="0033A0"/>
                </a:solidFill>
                <a:latin typeface="Montserrat"/>
                <a:ea typeface="Montserrat"/>
                <a:cs typeface="Montserrat"/>
                <a:sym typeface="Montserrat"/>
              </a:rPr>
              <a:t>User Study: </a:t>
            </a:r>
            <a:r>
              <a:rPr lang="en-US" sz="2200">
                <a:solidFill>
                  <a:srgbClr val="0033A0"/>
                </a:solidFill>
                <a:latin typeface="Montserrat Medium"/>
                <a:ea typeface="Montserrat Medium"/>
                <a:cs typeface="Montserrat Medium"/>
                <a:sym typeface="Montserrat Medium"/>
              </a:rPr>
              <a:t>Conducted with 11 CS PhD and Master’s students. All participants reported the system was easy or very easy to use, and most found the responses accurate, helpful, fair, and reported confidence in using the system for advisor selection.</a:t>
            </a:r>
            <a:endParaRPr sz="2200">
              <a:solidFill>
                <a:srgbClr val="0033A0"/>
              </a:solidFill>
              <a:latin typeface="Montserrat Medium"/>
              <a:ea typeface="Montserrat Medium"/>
              <a:cs typeface="Montserrat Medium"/>
              <a:sym typeface="Montserrat Medium"/>
            </a:endParaRPr>
          </a:p>
          <a:p>
            <a:pPr indent="-368300" lvl="0" marL="457200" rtl="0" algn="l">
              <a:lnSpc>
                <a:spcPct val="115000"/>
              </a:lnSpc>
              <a:spcBef>
                <a:spcPts val="1000"/>
              </a:spcBef>
              <a:spcAft>
                <a:spcPts val="1000"/>
              </a:spcAft>
              <a:buClr>
                <a:srgbClr val="0033A0"/>
              </a:buClr>
              <a:buSzPts val="2200"/>
              <a:buFont typeface="Montserrat Medium"/>
              <a:buChar char="●"/>
            </a:pPr>
            <a:r>
              <a:rPr b="1" lang="en-US" sz="2200">
                <a:solidFill>
                  <a:srgbClr val="0033A0"/>
                </a:solidFill>
                <a:latin typeface="Montserrat"/>
                <a:ea typeface="Montserrat"/>
                <a:cs typeface="Montserrat"/>
                <a:sym typeface="Montserrat"/>
              </a:rPr>
              <a:t>Key Insight:</a:t>
            </a:r>
            <a:r>
              <a:rPr lang="en-US" sz="2200">
                <a:solidFill>
                  <a:srgbClr val="0033A0"/>
                </a:solidFill>
                <a:latin typeface="Montserrat Medium"/>
                <a:ea typeface="Montserrat Medium"/>
                <a:cs typeface="Montserrat Medium"/>
                <a:sym typeface="Montserrat Medium"/>
              </a:rPr>
              <a:t> Results confirm that a RAG-based conversational approach is effective for advisor recommendation, while user feedback highlights opportunities for scalability and broader deployment.</a:t>
            </a:r>
            <a:endParaRPr sz="2200">
              <a:solidFill>
                <a:srgbClr val="0033A0"/>
              </a:solidFill>
              <a:latin typeface="Montserrat Medium"/>
              <a:ea typeface="Montserrat Medium"/>
              <a:cs typeface="Montserrat Medium"/>
              <a:sym typeface="Montserrat Medium"/>
            </a:endParaRPr>
          </a:p>
        </p:txBody>
      </p:sp>
      <p:pic>
        <p:nvPicPr>
          <p:cNvPr id="122" name="Google Shape;122;g3afe4b6cf14_0_0"/>
          <p:cNvPicPr preferRelativeResize="0"/>
          <p:nvPr/>
        </p:nvPicPr>
        <p:blipFill>
          <a:blip r:embed="rId5">
            <a:alphaModFix/>
          </a:blip>
          <a:stretch>
            <a:fillRect/>
          </a:stretch>
        </p:blipFill>
        <p:spPr>
          <a:xfrm>
            <a:off x="21416825" y="24576120"/>
            <a:ext cx="11058561" cy="6158645"/>
          </a:xfrm>
          <a:prstGeom prst="rect">
            <a:avLst/>
          </a:prstGeom>
          <a:noFill/>
          <a:ln cap="flat" cmpd="sng" w="9525">
            <a:solidFill>
              <a:schemeClr val="lt1"/>
            </a:solidFill>
            <a:prstDash val="solid"/>
            <a:round/>
            <a:headEnd len="sm" w="sm" type="none"/>
            <a:tailEnd len="sm" w="sm" type="none"/>
          </a:ln>
        </p:spPr>
      </p:pic>
      <p:pic>
        <p:nvPicPr>
          <p:cNvPr id="123" name="Google Shape;123;g3afe4b6cf14_0_0"/>
          <p:cNvPicPr preferRelativeResize="0"/>
          <p:nvPr/>
        </p:nvPicPr>
        <p:blipFill>
          <a:blip r:embed="rId6">
            <a:alphaModFix/>
          </a:blip>
          <a:stretch>
            <a:fillRect/>
          </a:stretch>
        </p:blipFill>
        <p:spPr>
          <a:xfrm>
            <a:off x="38664397" y="26331966"/>
            <a:ext cx="3984725" cy="3984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2019-03-06T20:11:22Z</dcterms:created>
  <dc:creator>Microsoft Office User</dc:creator>
</cp:coreProperties>
</file>